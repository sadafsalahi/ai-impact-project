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AI Content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0C3"/>
                </a:solidFill>
              </a:rPr>
              <a:t>• • 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Countries and 10 Industries (2020–2025)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E93AC"/>
                </a:solidFill>
              </a:rPr>
              <a:t>Corrected edition — figures verified against the source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</a:rPr>
              <a:t>This dataset explores the influence of AI-generated content across various industries.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245"/>
                </a:solidFill>
              </a:rPr>
              <a:t>Dataset at a Glance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770839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Total records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200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Country × Industry × Year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Countries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USA, Germany, France, UK, China, Japan, India, Australia, Canada, South Korea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Industries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Media, Legal, Automotive, Gaming, Retail, Education, Healthcare, Marketing, Manufacturing, Finance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Years covered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2020–2025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245"/>
                          </a:solidFill>
                        </a:rPr>
                        <a:t>6-year period; sampling is uneven — not every country × industry × year combination is present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9496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</a:rPr>
              <a:t>This caveat matters: several charts later in the deck compare countries or industries with very small sample sizes (sometimes 1–3 records). Single-year, single-country figures should be read as illustrative, not as stable long-run trends.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245"/>
                </a:solidFill>
              </a:rPr>
              <a:t>The dataset captures 7 key numerical metrics: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</a:rPr>
              <a:t>AI Adoption Rate, AI-Generated Content Volume, Job Loss Due to AI, Revenue Increase Due to AI, Human-AI Collaboration Rate, Consumer Trust in AI, and Market Share of AI Companies.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245"/>
                </a:solidFill>
              </a:rPr>
              <a:t>The charts in this report cover every dimension of the dataset and are organized into four analytical sections: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3B6F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18688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Section 1 — Industry and Country Adoption Patterns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913632"/>
            <a:ext cx="457200" cy="457200"/>
          </a:xfrm>
          <a:prstGeom prst="ellipse">
            <a:avLst/>
          </a:prstGeom>
          <a:solidFill>
            <a:srgbClr val="CC4C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Section 2 — Economic Impact: Jobs and Revenue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626864"/>
            <a:ext cx="457200" cy="457200"/>
          </a:xfrm>
          <a:prstGeom prst="ellipse">
            <a:avLst/>
          </a:prstGeom>
          <a:solidFill>
            <a:srgbClr val="8072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45152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Section 3 — Technology Ecosystem: Tools, Content and Market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1520" y="5340096"/>
            <a:ext cx="457200" cy="457200"/>
          </a:xfrm>
          <a:prstGeom prst="ellipse">
            <a:avLst/>
          </a:prstGeom>
          <a:solidFill>
            <a:srgbClr val="3E965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358384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Section 4 — Trust, Collaboration and Relationships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725912" cy="3657600"/>
          </a:xfrm>
          <a:prstGeom prst="rect">
            <a:avLst/>
          </a:prstGeom>
          <a:solidFill>
            <a:srgbClr val="233245"/>
          </a:solidFill>
          <a:ln w="12700">
            <a:solidFill>
              <a:srgbClr val="5C6E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10177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and Country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35661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AD0"/>
                </a:solidFill>
              </a:rPr>
              <a:t>AI adoption by industry (The Illusion of Averages)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 Rate by Industry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This bar chart shows the average AI Adoption Rate (%) for each of the 10 industries, computed across all countries and years in the dataset.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error bars show one standard deviation — and they're almost as tall as the bars themselves. That's a first sign that industry-level averages hide a lot of underlying variation, which the next few slides dig into.</a:t>
            </a:r>
            <a:endParaRPr lang="en-US" sz="1250" dirty="0"/>
          </a:p>
        </p:txBody>
      </p:sp>
      <p:pic>
        <p:nvPicPr>
          <p:cNvPr id="6" name="Image 0" descr="/sessions/affectionate-inspiring-thompson/mnt/outputs/charts/fig1_adoption_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Danger of Broad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0"/>
                </a:solidFill>
              </a:rPr>
              <a:t>Broad industry averages hide dramatic regional differences.</a:t>
            </a:r>
            <a:endParaRPr lang="en-US" sz="1400" dirty="0"/>
          </a:p>
        </p:txBody>
      </p:sp>
      <p:pic>
        <p:nvPicPr>
          <p:cNvPr id="4" name="Image 0" descr="/sessions/affectionate-inspiring-thompson/mnt/outputs/charts/fig_broad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076" y="1463040"/>
            <a:ext cx="89408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Illusion?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245"/>
                </a:solidFill>
              </a:rPr>
              <a:t>The Paradigm Shift: </a:t>
            </a:r>
            <a:pPr indent="0" marL="0">
              <a:buNone/>
            </a:pPr>
            <a:r>
              <a:rPr lang="en-US" sz="1450" dirty="0">
                <a:solidFill>
                  <a:srgbClr val="5B6570"/>
                </a:solidFill>
              </a:rPr>
              <a:t>"Which industry adopts AI most?" is the wrong question.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245"/>
                </a:solidFill>
              </a:rPr>
              <a:t>The Right Question: </a:t>
            </a:r>
            <a:pPr indent="0" marL="0">
              <a:buNone/>
            </a:pPr>
            <a:r>
              <a:rPr lang="en-US" sz="1450" dirty="0">
                <a:solidFill>
                  <a:srgbClr val="5B6570"/>
                </a:solidFill>
              </a:rPr>
              <a:t>"Which country-regulation combination within an industry drives adoption?"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492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245"/>
                </a:solidFill>
              </a:rPr>
              <a:t>As the chart shows, adoption within a single industry can swing far more than the difference between industry averages. In Legal services, for example, average AI adoption is 63% in China but just 29% in India — a 34-point spread inside one industry, wider than the entire 13-point gap between the highest- and lowest-adopting industries overall (Gaming at 60% vs. Media at 47%). Asking “which industry adopts AI most” is the wrong question; the right one is how country-level factors and regulation drive adoption.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1463040"/>
            <a:ext cx="4206240" cy="2743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6352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</a:rPr>
              <a:t>China — Legal AI adoption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4692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6469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</a:rPr>
              <a:t>India — Legal AI adoption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0"/>
                </a:solidFill>
              </a:rPr>
              <a:t>Same industry. Same year range. A 34-point gap.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AI Adoption Rate by Country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Leading Adopters: the UK leads (~64.7%), well ahead of the rest of the field.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Strict Regulation's Effect: China (52.9%) and South Korea (50.6%) are among the lowest, consistent with stricter sector rules.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Real Gap: the spread across all 10 countries is about 14 percentage points (64.7% to 50.6%) — real, but modest compared with the industry-level swings on the previous slides.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2_adoption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Adoption Trends Over 6 Years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The global adoption landscape is volatile — none of the five countries shows one clean, steady trend.</a:t>
            </a:r>
            <a:endParaRPr lang="en-US" sz="1300" dirty="0"/>
          </a:p>
        </p:txBody>
      </p:sp>
      <p:pic>
        <p:nvPicPr>
          <p:cNvPr id="4" name="Image 0" descr="/sessions/affectionate-inspiring-thompson/mnt/outputs/charts/fig_trend_y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858000" cy="385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554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3245"/>
                </a:solidFill>
              </a:rPr>
              <a:t>India fell the most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</a:rPr>
              <a:t>: from a 2020 high of 70% to 46% by 2025 (–24 pts), the steepest net decline of the five.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589520" y="274320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3245"/>
                </a:solidFill>
              </a:rPr>
              <a:t>China and Germany swing rather than trend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</a:rPr>
              <a:t>: China ranged from 37% (2021–22) to 63% (2020) before settling near 55%; Germany peaked at 66% in 2022 then fell to 17% by 2024, its last recorded year (no 2025 data in the sample).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589520" y="44805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33245"/>
                </a:solidFill>
              </a:rPr>
              <a:t>Read with caution</a:t>
            </a:r>
            <a:pPr indent="0" marL="0">
              <a:buNone/>
            </a:pPr>
            <a:r>
              <a:rPr lang="en-US" sz="1150" dirty="0">
                <a:solidFill>
                  <a:srgbClr val="5B6570"/>
                </a:solidFill>
              </a:rPr>
              <a:t>: each country-year point is often just 1–5 records, so year-to-year jumps are noisy, not clean policy signals.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Takeaway: The Adoption Myth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201168" cy="201168"/>
          </a:xfrm>
          <a:prstGeom prst="ellipse">
            <a:avLst/>
          </a:prstGeom>
          <a:solidFill>
            <a:srgbClr val="3B6FA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16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Geography Alone Is a Weak Predictor: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national averages mask sizable sector-level differences.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01168" cy="201168"/>
          </a:xfrm>
          <a:prstGeom prst="ellipse">
            <a:avLst/>
          </a:prstGeom>
          <a:solidFill>
            <a:srgbClr val="CC4C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The Reality: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AI adoption varies more within industries — and within countries year to year — than industry averages alone suggest.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01168" cy="201168"/>
          </a:xfrm>
          <a:prstGeom prst="ellipse">
            <a:avLst/>
          </a:prstGeom>
          <a:solidFill>
            <a:srgbClr val="3E965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79476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Conclusion: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country policy, regulation status, infrastructure, and ordinary sampling noise all matter as much as the industry label itself.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725912" cy="3657600"/>
          </a:xfrm>
          <a:prstGeom prst="rect">
            <a:avLst/>
          </a:prstGeom>
          <a:solidFill>
            <a:srgbClr val="233245"/>
          </a:solidFill>
          <a:ln w="12700">
            <a:solidFill>
              <a:srgbClr val="5C6E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10177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‘Jobs and Revenue’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35661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AD0"/>
                </a:solidFill>
              </a:rPr>
              <a:t>The Universal Risk of Job Loss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Loss Distribution by Industry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Most Affected: Manufacturing has the highest median job loss (36%), followed by Automotive (31%) and Legal (30%) — industries with high potential for task automation.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Least Affected: Marketing (18%) and Retail (22%) see the least displacement, as AI tends to augment rather than replace work there.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Wide Spread: every industry's 25th-to-75th-percentile range spans at least ~20 points, so the average understates how unevenly displacement actually lands.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3_jobloss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Displacement: Country Perspectives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Job loss patterns are shaped by national economies, not a single global rule. India shows massive spikes in Manufacturing (47%) and Legal (43%); Germany's biggest displacement is in Automotive (48%).</a:t>
            </a:r>
            <a:endParaRPr lang="en-US" sz="1300" dirty="0"/>
          </a:p>
        </p:txBody>
      </p:sp>
      <p:pic>
        <p:nvPicPr>
          <p:cNvPr id="4" name="Image 0" descr="/sessions/affectionate-inspiring-thompson/mnt/outputs/charts/fig_radar_job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716" y="1508760"/>
            <a:ext cx="88595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Revenue Myth: Does More AI Equal More Money?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Assumption: broad AI adoption automatically drives higher revenue.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Reality: there is essentially zero correlation (r ≈ 0.00, precisely +0.002) between raw AI adoption rates and revenue increases, across all 200 records.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High revenue gains appear at every level of adoption, from single digits to the mid-90s.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4_revenu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Realities: Sector-Specific Correlations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0"/>
                </a:solidFill>
              </a:rPr>
              <a:t>Correlation between AI Adoption Rate and Revenue Increase, within USA, China, Germany, India, Australia (2020–2025)</a:t>
            </a:r>
            <a:endParaRPr lang="en-US" sz="1150" dirty="0"/>
          </a:p>
        </p:txBody>
      </p:sp>
      <p:pic>
        <p:nvPicPr>
          <p:cNvPr id="4" name="Image 0" descr="/sessions/affectionate-inspiring-thompson/mnt/outputs/charts/fig_sector_corr_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1836" y="1371600"/>
            <a:ext cx="4145280" cy="2331720"/>
          </a:xfrm>
          <a:prstGeom prst="rect">
            <a:avLst/>
          </a:prstGeom>
        </p:spPr>
      </p:pic>
      <p:pic>
        <p:nvPicPr>
          <p:cNvPr id="5" name="Image 1" descr="/sessions/affectionate-inspiring-thompson/mnt/outputs/charts/fig_sector_corr_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414528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0" y="3977640"/>
            <a:ext cx="5669280" cy="2331720"/>
          </a:xfrm>
          <a:prstGeom prst="rect">
            <a:avLst>
              <a:gd name="adj" fmla="val 3137"/>
            </a:avLst>
          </a:prstGeom>
          <a:solidFill>
            <a:srgbClr val="FBEAEA"/>
          </a:solidFill>
          <a:ln/>
        </p:spPr>
      </p:sp>
      <p:sp>
        <p:nvSpPr>
          <p:cNvPr id="7" name="Text 3"/>
          <p:cNvSpPr/>
          <p:nvPr/>
        </p:nvSpPr>
        <p:spPr>
          <a:xfrm>
            <a:off x="6172200" y="4160520"/>
            <a:ext cx="5212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45"/>
                </a:solidFill>
              </a:rPr>
              <a:t>Paradoxically, </a:t>
            </a:r>
            <a:pPr indent="0" marL="0">
              <a:buNone/>
            </a:pPr>
            <a:r>
              <a:rPr lang="en-US" sz="1250" b="1" dirty="0">
                <a:solidFill>
                  <a:srgbClr val="7A2E2E"/>
                </a:solidFill>
              </a:rPr>
              <a:t>in Finance (r = –0.579) and Healthcare (r = –0.42), higher AI adoption is linked to lower revenue growth</a:t>
            </a:r>
            <a:pPr indent="0" marL="0">
              <a:buNone/>
            </a:pPr>
            <a:r>
              <a:rPr lang="en-US" sz="1250" dirty="0">
                <a:solidFill>
                  <a:srgbClr val="233245"/>
                </a:solidFill>
              </a:rPr>
              <a:t> within this five-country sample — while Marketing (r = +0.605) and Legal (r = +0.404) show the opposite pattern.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 Trade-Off: Job Loss vs. Revenue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Best Trade-off: Media pairs strong revenue gains (44%) with comparatively low job loss (23%) — AI mostly augments rather than replaces here.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Profitable but Disruptive: Automotive has the highest average revenue (46%) but above-average job loss (29%); Legal is similar (42% revenue, 28% job loss).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Highest Displacement: Manufacturing has the highest job loss of any sector (33%), with only mid-pack revenue (43%).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Weakest Sector: Gaming combines the lowest average revenue (33%) with above-average job loss (27%) — the least favorable trade-off in the dataset.</a:t>
            </a:r>
            <a:endParaRPr lang="en-US" sz="1250" dirty="0"/>
          </a:p>
        </p:txBody>
      </p:sp>
      <p:pic>
        <p:nvPicPr>
          <p:cNvPr id="8" name="Image 0" descr="/sessions/affectionate-inspiring-thompson/mnt/outputs/charts/fig11_jobloss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Economic Volatility by Industry (2020–2025)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Both job loss and revenue swing substantially year to year within every industry — there is no steady trend either way for most sectors, which is why single-year snapshots can be misleading if read as long-run averages.</a:t>
            </a:r>
            <a:endParaRPr lang="en-US" sz="1300" dirty="0"/>
          </a:p>
        </p:txBody>
      </p:sp>
      <p:pic>
        <p:nvPicPr>
          <p:cNvPr id="4" name="Image 0" descr="/sessions/affectionate-inspiring-thompson/mnt/outputs/charts/fig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716" y="1508760"/>
            <a:ext cx="88595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Takeaway: “Quality Over Quantity”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201168" cy="201168"/>
          </a:xfrm>
          <a:prstGeom prst="ellipse">
            <a:avLst/>
          </a:prstGeom>
          <a:solidFill>
            <a:srgbClr val="3B6FA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16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Adoption ≠ Revenue: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racing to raise AI adoption rates does not guarantee financial success (r ≈ 0.00 overall).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01168" cy="201168"/>
          </a:xfrm>
          <a:prstGeom prst="ellipse">
            <a:avLst/>
          </a:prstGeom>
          <a:solidFill>
            <a:srgbClr val="CC4C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Targeted Value: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sector-specific patterns (Marketing, Legal) suggest that deployment on well-matched, high-value tasks matters more than raw adoption breadth.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01168" cy="201168"/>
          </a:xfrm>
          <a:prstGeom prst="ellipse">
            <a:avLst/>
          </a:prstGeom>
          <a:solidFill>
            <a:srgbClr val="3E965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79476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Policy Imperative: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reskilling should be prioritized for the highest-job-loss sectors — Manufacturing, Automotive, and Legal — where displacement is greatest.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725912" cy="3657600"/>
          </a:xfrm>
          <a:prstGeom prst="rect">
            <a:avLst/>
          </a:prstGeom>
          <a:solidFill>
            <a:srgbClr val="233245"/>
          </a:solidFill>
          <a:ln w="12700">
            <a:solidFill>
              <a:srgbClr val="5C6E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10177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Ecosystem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Dominant Tools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Ecosystem — The Dominance of Visual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Visual AI Leads: image-generation tools — Midjourney, DALL-E, and Stable Diffusion — together account for 45% of all primary tool usage.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Top Tool: Midjourney ranks #1 overall (18.5% of records), followed by ChatGPT and Claude, tied at 15.5% each.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Rest: Stable Diffusion (13.5%), DALL-E (13.0%), and Bard and Synthesia (12.0% each) round out the field — no tool outside Midjourney dominates.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6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AI Market Share: A Distributed Ecosystem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Leader: Germany leads market share (~30.5%), followed closely by India and Canada (~28.3% each).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Lowest: the USA has the lowest share (~21.0%), consistent with acting primarily as an AI user rather than a creator; Australia (23.7%) and the UK (25.1%) are also below the 26.6% global mean.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A Real but Modest Spread: the range across all 10 countries is about 9.5 percentage points (30.5% to 21.0%) — meaningful, but far narrower than the spreads seen in adoption or job loss.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8_market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Volume Trends (2020–2025): The Surprising Plateau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No Exponential Growth: contrary to expectations, there is no clear upward trend in AI-generated content volume over the 6 years.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Averages: volume fluctuates between 38–54 terabytes per year, with no consistent direction.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Massive Variance: the standard deviation is huge (±27–31 TB) — volume is driven more by specific industry needs than by the passage of time.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10_content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3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725912" cy="3657600"/>
          </a:xfrm>
          <a:prstGeom prst="rect">
            <a:avLst/>
          </a:prstGeom>
          <a:solidFill>
            <a:srgbClr val="233245"/>
          </a:solidFill>
          <a:ln w="12700">
            <a:solidFill>
              <a:srgbClr val="5C6E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10177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Collaboration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7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Relationships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35661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AD0"/>
                </a:solidFill>
              </a:rPr>
              <a:t>The Regulation Paradox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Collaboration — The Trust Paradox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Paradox: lenient (60.8%) and moderate (60.7%) regulation correspond to higher consumer trust than strict regulation.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Strict Rules, Lower Trust: environments with strict AI regulation show the lowest average trust (55.8%).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“Signaling” Effect: strict regulation may inadvertently signal that AI is risky, suppressing trust — though with ~17-point std. deviations in every group, individual cases vary widely.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5_trust_reg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Granular View of Trust: Strict Borders vs. Low Trust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Darker cells = higher trust. Border color/thickness = regulation strictness. France's Finance sector (strict) shows just 30% trust; Canada's Manufacturing (lenient) shows 89% — though exceptions exist, e.g. China's Automotive (lenient) still shows 84% trust.</a:t>
            </a:r>
            <a:endParaRPr lang="en-US" sz="1300" dirty="0"/>
          </a:p>
        </p:txBody>
      </p:sp>
      <p:pic>
        <p:nvPicPr>
          <p:cNvPr id="4" name="Image 0" descr="/sessions/affectionate-inspiring-thompson/mnt/outputs/charts/fig_trus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716" y="1508760"/>
            <a:ext cx="885952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Human-AI Collaboration: A Real, Wide Gap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Not a Narrow Gap: countries span about 17 percentage points in collaboration rate — wider than the gaps seen in market share or overall adoption.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Extremes: Australia and South Korea lead (~59.5% each); Japan is the clear outlier at the bottom (~42.4%), well below Germany (49.6%), the next-lowest.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Reality: technology limits alone don't explain this — national culture and policy still visibly shape how collaborative vs. autonomous AI use is, given how wide this spread is.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7_collab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32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vs. Quantity Dilemma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Adoption ≠ Trust: there is a weak negative correlation (r = –0.12) between adoption rates and consumer trust.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The Clearest Case: the UK combines the highest average adoption (64.7%) with the lowest average trust (50.1%) of any country; Germany sits at the opposite extreme — below-average adoption (51.5%) with the highest trust (65.0%).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D6DEE6"/>
                </a:solidFill>
              </a:rPr>
              <a:t>No Magic Lever: all 7 metrics in this dataset are nearly independent (most correlations under |0.15|) — you cannot optimize revenue or trust simply by forcing higher AI adoption.</a:t>
            </a:r>
            <a:endParaRPr lang="en-US" sz="1250" dirty="0"/>
          </a:p>
        </p:txBody>
      </p:sp>
      <p:pic>
        <p:nvPicPr>
          <p:cNvPr id="7" name="Image 0" descr="/sessions/affectionate-inspiring-thompson/mnt/outputs/charts/fig9_cor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6743"/>
            <a:ext cx="7296912" cy="4104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Conclusions &amp; Strategic Imperatives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201168" cy="201168"/>
          </a:xfrm>
          <a:prstGeom prst="ellipse">
            <a:avLst/>
          </a:prstGeom>
          <a:solidFill>
            <a:srgbClr val="3B6FA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16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Averages Are Illusions: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AI adoption and impact vary far more within industries and within countries year-to-year than headline averages suggest.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01168" cy="201168"/>
          </a:xfrm>
          <a:prstGeom prst="ellipse">
            <a:avLst/>
          </a:prstGeom>
          <a:solidFill>
            <a:srgbClr val="CC4C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The Revenue Myth: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broad adoption does not guarantee revenue (r ≈ 0.00 overall); sector-specific, strategic deployment is what correlates with gains.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01168" cy="201168"/>
          </a:xfrm>
          <a:prstGeom prst="ellipse">
            <a:avLst/>
          </a:prstGeom>
          <a:solidFill>
            <a:srgbClr val="3E965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79476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3245"/>
                </a:solidFill>
              </a:rPr>
              <a:t>Job Loss Is Uneven but Widespread: </a:t>
            </a:r>
            <a:pPr indent="0" marL="0">
              <a:buNone/>
            </a:pPr>
            <a:r>
              <a:rPr lang="en-US" sz="1550" dirty="0">
                <a:solidFill>
                  <a:srgbClr val="5B6570"/>
                </a:solidFill>
              </a:rPr>
              <a:t>displacement is highest in Manufacturing, Automotive, and Legal — prioritize reskilling there first.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6403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2026-07-20T10:04:16Z</dcterms:created>
  <dcterms:modified xsi:type="dcterms:W3CDTF">2026-07-20T10:04:16Z</dcterms:modified>
</cp:coreProperties>
</file>